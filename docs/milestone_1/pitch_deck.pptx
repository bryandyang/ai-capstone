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/9CPXg9WmQ91WHB0BlGi+Ld+Q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b39db2dec_5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g3fb39db2dec_5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fb39db2dec_5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b39db2dec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g3fb39db2dec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fb39db2dec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b39db2dec_2_2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g3fb39db2dec_2_2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b39db2dec_2_2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39db2dec_2_5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g3fb39db2dec_2_5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b39db2dec_2_5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39db2dec_5_0"/>
          <p:cNvSpPr txBox="1"/>
          <p:nvPr/>
        </p:nvSpPr>
        <p:spPr>
          <a:xfrm>
            <a:off x="640080" y="59436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Research Meeting Follow-up Assistant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fb39db2dec_5_0"/>
          <p:cNvSpPr txBox="1"/>
          <p:nvPr/>
        </p:nvSpPr>
        <p:spPr>
          <a:xfrm>
            <a:off x="640080" y="1371600"/>
            <a:ext cx="109087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Persistent meeting memory for research teams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b39db2dec_5_0"/>
          <p:cNvSpPr txBox="1"/>
          <p:nvPr/>
        </p:nvSpPr>
        <p:spPr>
          <a:xfrm>
            <a:off x="640080" y="251460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i="0" lang="en-US" sz="2200" u="none" cap="none" strike="noStrike">
                <a:solidFill>
                  <a:srgbClr val="087F8C"/>
                </a:solidFill>
              </a:rPr>
              <a:t>-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g3fb39db2dec_5_0"/>
          <p:cNvSpPr txBox="1"/>
          <p:nvPr/>
        </p:nvSpPr>
        <p:spPr>
          <a:xfrm>
            <a:off x="960120" y="251460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rPr i="0" lang="en-US" sz="2200" u="none" cap="none" strike="noStrike">
                <a:solidFill>
                  <a:srgbClr val="142B3D"/>
                </a:solidFill>
              </a:rPr>
              <a:t>Built for PhD advisors and their researchers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g3fb39db2dec_5_0"/>
          <p:cNvSpPr txBox="1"/>
          <p:nvPr/>
        </p:nvSpPr>
        <p:spPr>
          <a:xfrm>
            <a:off x="640080" y="301752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i="0" lang="en-US" sz="2200" u="none" cap="none" strike="noStrike">
                <a:solidFill>
                  <a:srgbClr val="087F8C"/>
                </a:solidFill>
              </a:rPr>
              <a:t>-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3" name="Google Shape;23;g3fb39db2dec_5_0"/>
          <p:cNvSpPr txBox="1"/>
          <p:nvPr/>
        </p:nvSpPr>
        <p:spPr>
          <a:xfrm>
            <a:off x="960120" y="301752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42B3D"/>
                </a:solidFill>
              </a:rPr>
              <a:t>Tracks commitments and reminds owners between meetings</a:t>
            </a:r>
            <a:endParaRPr sz="2200">
              <a:solidFill>
                <a:srgbClr val="142B3D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t/>
            </a:r>
            <a:endParaRPr sz="2200">
              <a:solidFill>
                <a:srgbClr val="142B3D"/>
              </a:solidFill>
            </a:endParaRPr>
          </a:p>
        </p:txBody>
      </p:sp>
      <p:sp>
        <p:nvSpPr>
          <p:cNvPr id="24" name="Google Shape;24;g3fb39db2dec_5_0"/>
          <p:cNvSpPr txBox="1"/>
          <p:nvPr/>
        </p:nvSpPr>
        <p:spPr>
          <a:xfrm>
            <a:off x="640080" y="3520440"/>
            <a:ext cx="27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rPr i="0" lang="en-US" sz="2200" u="none" cap="none" strike="noStrike">
                <a:solidFill>
                  <a:srgbClr val="087F8C"/>
                </a:solidFill>
              </a:rPr>
              <a:t>-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sp>
        <p:nvSpPr>
          <p:cNvPr id="25" name="Google Shape;25;g3fb39db2dec_5_0"/>
          <p:cNvSpPr txBox="1"/>
          <p:nvPr/>
        </p:nvSpPr>
        <p:spPr>
          <a:xfrm>
            <a:off x="960120" y="352044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42B3D"/>
                </a:solidFill>
              </a:rPr>
              <a:t>Extends CCB's transcripts with cited history and scheduled follow-up</a:t>
            </a:r>
            <a:endParaRPr sz="2200">
              <a:solidFill>
                <a:srgbClr val="142B3D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B3D"/>
              </a:buClr>
              <a:buSzPts val="1500"/>
              <a:buFont typeface="Arial"/>
              <a:buNone/>
            </a:pPr>
            <a:r>
              <a:t/>
            </a:r>
            <a:endParaRPr sz="2200">
              <a:solidFill>
                <a:srgbClr val="142B3D"/>
              </a:solidFill>
            </a:endParaRPr>
          </a:p>
        </p:txBody>
      </p:sp>
      <p:cxnSp>
        <p:nvCxnSpPr>
          <p:cNvPr id="26" name="Google Shape;26;g3fb39db2dec_5_0"/>
          <p:cNvCxnSpPr/>
          <p:nvPr/>
        </p:nvCxnSpPr>
        <p:spPr>
          <a:xfrm>
            <a:off x="640080" y="4160520"/>
            <a:ext cx="10908792" cy="0"/>
          </a:xfrm>
          <a:prstGeom prst="straightConnector1">
            <a:avLst/>
          </a:prstGeom>
          <a:noFill/>
          <a:ln cap="flat" cmpd="sng" w="12700">
            <a:solidFill>
              <a:srgbClr val="E1E7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fb39db2dec_5_0"/>
          <p:cNvSpPr txBox="1"/>
          <p:nvPr/>
        </p:nvSpPr>
        <p:spPr>
          <a:xfrm>
            <a:off x="640075" y="4389125"/>
            <a:ext cx="1082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087F8C"/>
                </a:solidFill>
              </a:rPr>
              <a:t>Engineering question   </a:t>
            </a:r>
            <a:r>
              <a:rPr i="1" lang="en-US" sz="2100">
                <a:solidFill>
                  <a:srgbClr val="142B3D"/>
                </a:solidFill>
              </a:rPr>
              <a:t>Can an assistant reliably maintain commitments across a sequence of meetings while reducing manual reconciliation and avoiding unsupported updates?</a:t>
            </a:r>
            <a:endParaRPr i="1" sz="2100">
              <a:solidFill>
                <a:srgbClr val="142B3D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87F8C"/>
              </a:buClr>
              <a:buSzPts val="1500"/>
              <a:buFont typeface="Arial"/>
              <a:buNone/>
            </a:pPr>
            <a:r>
              <a:t/>
            </a:r>
            <a:endParaRPr b="1" sz="2100">
              <a:solidFill>
                <a:srgbClr val="087F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b39db2dec_2_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b="1" lang="en-US" sz="1800">
                <a:solidFill>
                  <a:srgbClr val="5E6B85"/>
                </a:solidFill>
              </a:rPr>
              <a:t>PROBLEM &amp; MOTIVATION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" name="Google Shape;34;g3fb39db2dec_2_2"/>
          <p:cNvSpPr txBox="1"/>
          <p:nvPr/>
        </p:nvSpPr>
        <p:spPr>
          <a:xfrm>
            <a:off x="640080" y="788375"/>
            <a:ext cx="11285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8"/>
              <a:buFont typeface="Cambria"/>
              <a:buNone/>
            </a:pPr>
            <a:r>
              <a:rPr b="1" lang="en-US" sz="2908">
                <a:solidFill>
                  <a:srgbClr val="1E2761"/>
                </a:solidFill>
              </a:rPr>
              <a:t>Context Gets Lost Between Meetings</a:t>
            </a:r>
            <a:endParaRPr sz="2908">
              <a:solidFill>
                <a:schemeClr val="dk1"/>
              </a:solidFill>
            </a:endParaRPr>
          </a:p>
        </p:txBody>
      </p:sp>
      <p:sp>
        <p:nvSpPr>
          <p:cNvPr id="35" name="Google Shape;35;g3fb39db2dec_2_2"/>
          <p:cNvSpPr txBox="1"/>
          <p:nvPr/>
        </p:nvSpPr>
        <p:spPr>
          <a:xfrm>
            <a:off x="640075" y="1375438"/>
            <a:ext cx="491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25"/>
              <a:buFont typeface="Cambria"/>
              <a:buNone/>
            </a:pPr>
            <a:r>
              <a:rPr b="1" lang="en-US" sz="2370">
                <a:solidFill>
                  <a:srgbClr val="0E7C86"/>
                </a:solidFill>
              </a:rPr>
              <a:t>1</a:t>
            </a:r>
            <a:endParaRPr sz="2370">
              <a:solidFill>
                <a:schemeClr val="dk1"/>
              </a:solidFill>
            </a:endParaRPr>
          </a:p>
        </p:txBody>
      </p:sp>
      <p:sp>
        <p:nvSpPr>
          <p:cNvPr id="36" name="Google Shape;36;g3fb39db2dec_2_2"/>
          <p:cNvSpPr txBox="1"/>
          <p:nvPr/>
        </p:nvSpPr>
        <p:spPr>
          <a:xfrm>
            <a:off x="950997" y="1391851"/>
            <a:ext cx="1122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lang="en-US" sz="1994">
                <a:solidFill>
                  <a:srgbClr val="1E2761"/>
                </a:solidFill>
              </a:rPr>
              <a:t>Weekly research meetings generate commitments, decisions, deadlines, and professor suggestions that must be tracked across weeks, and reconciled against everything decided before.</a:t>
            </a:r>
            <a:endParaRPr sz="1994">
              <a:solidFill>
                <a:schemeClr val="dk1"/>
              </a:solidFill>
            </a:endParaRPr>
          </a:p>
        </p:txBody>
      </p:sp>
      <p:sp>
        <p:nvSpPr>
          <p:cNvPr id="37" name="Google Shape;37;g3fb39db2dec_2_2"/>
          <p:cNvSpPr txBox="1"/>
          <p:nvPr/>
        </p:nvSpPr>
        <p:spPr>
          <a:xfrm>
            <a:off x="640075" y="2082388"/>
            <a:ext cx="491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25"/>
              <a:buFont typeface="Cambria"/>
              <a:buNone/>
            </a:pPr>
            <a:r>
              <a:rPr b="1" lang="en-US" sz="2370">
                <a:solidFill>
                  <a:srgbClr val="0E7C86"/>
                </a:solidFill>
              </a:rPr>
              <a:t>2</a:t>
            </a:r>
            <a:endParaRPr sz="2370">
              <a:solidFill>
                <a:schemeClr val="dk1"/>
              </a:solidFill>
            </a:endParaRPr>
          </a:p>
        </p:txBody>
      </p:sp>
      <p:sp>
        <p:nvSpPr>
          <p:cNvPr id="38" name="Google Shape;38;g3fb39db2dec_2_2"/>
          <p:cNvSpPr txBox="1"/>
          <p:nvPr/>
        </p:nvSpPr>
        <p:spPr>
          <a:xfrm>
            <a:off x="950997" y="2096013"/>
            <a:ext cx="1122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lang="en-US" sz="1994">
                <a:solidFill>
                  <a:srgbClr val="1E2761"/>
                </a:solidFill>
              </a:rPr>
              <a:t>A meeting summary captures what happened in one meeting. Connecting it back to earlier commitments, deadlines, and open suggestions is left entirely to the user.</a:t>
            </a:r>
            <a:endParaRPr sz="1994">
              <a:solidFill>
                <a:schemeClr val="dk1"/>
              </a:solidFill>
            </a:endParaRPr>
          </a:p>
        </p:txBody>
      </p:sp>
      <p:sp>
        <p:nvSpPr>
          <p:cNvPr id="39" name="Google Shape;39;g3fb39db2dec_2_2"/>
          <p:cNvSpPr txBox="1"/>
          <p:nvPr/>
        </p:nvSpPr>
        <p:spPr>
          <a:xfrm>
            <a:off x="640075" y="2789337"/>
            <a:ext cx="491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25"/>
              <a:buFont typeface="Cambria"/>
              <a:buNone/>
            </a:pPr>
            <a:r>
              <a:rPr b="1" lang="en-US" sz="2370">
                <a:solidFill>
                  <a:srgbClr val="0E7C86"/>
                </a:solidFill>
              </a:rPr>
              <a:t>3</a:t>
            </a:r>
            <a:endParaRPr sz="2370">
              <a:solidFill>
                <a:schemeClr val="dk1"/>
              </a:solidFill>
            </a:endParaRPr>
          </a:p>
        </p:txBody>
      </p:sp>
      <p:sp>
        <p:nvSpPr>
          <p:cNvPr id="40" name="Google Shape;40;g3fb39db2dec_2_2"/>
          <p:cNvSpPr txBox="1"/>
          <p:nvPr/>
        </p:nvSpPr>
        <p:spPr>
          <a:xfrm>
            <a:off x="951004" y="2867887"/>
            <a:ext cx="1122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lang="en-US" sz="1994">
                <a:solidFill>
                  <a:srgbClr val="1E2761"/>
                </a:solidFill>
              </a:rPr>
              <a:t>The result: duplicated work, forgotten commitments, unclear ownership, and decisions whose original reasoning becomes hard to recover.</a:t>
            </a:r>
            <a:endParaRPr sz="1994">
              <a:solidFill>
                <a:schemeClr val="dk1"/>
              </a:solidFill>
            </a:endParaRPr>
          </a:p>
        </p:txBody>
      </p:sp>
      <p:sp>
        <p:nvSpPr>
          <p:cNvPr id="41" name="Google Shape;41;g3fb39db2dec_2_2"/>
          <p:cNvSpPr txBox="1"/>
          <p:nvPr/>
        </p:nvSpPr>
        <p:spPr>
          <a:xfrm>
            <a:off x="640075" y="3697262"/>
            <a:ext cx="7573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91"/>
              <a:buFont typeface="Calibri"/>
              <a:buNone/>
            </a:pPr>
            <a:r>
              <a:rPr b="1" lang="en-US" sz="2019">
                <a:solidFill>
                  <a:srgbClr val="0E7C86"/>
                </a:solidFill>
              </a:rPr>
              <a:t>ONE TASK ACROSS THREE MEETINGS (Example):</a:t>
            </a:r>
            <a:endParaRPr sz="2019">
              <a:solidFill>
                <a:schemeClr val="dk1"/>
              </a:solidFill>
            </a:endParaRPr>
          </a:p>
        </p:txBody>
      </p:sp>
      <p:sp>
        <p:nvSpPr>
          <p:cNvPr id="42" name="Google Shape;42;g3fb39db2dec_2_2"/>
          <p:cNvSpPr txBox="1"/>
          <p:nvPr/>
        </p:nvSpPr>
        <p:spPr>
          <a:xfrm>
            <a:off x="635512" y="4198089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b="1" lang="en-US" sz="1922">
                <a:solidFill>
                  <a:srgbClr val="1E2761"/>
                </a:solidFill>
              </a:rPr>
              <a:t>Meeting 4</a:t>
            </a:r>
            <a:endParaRPr sz="1922">
              <a:solidFill>
                <a:schemeClr val="dk1"/>
              </a:solidFill>
            </a:endParaRPr>
          </a:p>
        </p:txBody>
      </p:sp>
      <p:sp>
        <p:nvSpPr>
          <p:cNvPr id="43" name="Google Shape;43;g3fb39db2dec_2_2"/>
          <p:cNvSpPr txBox="1"/>
          <p:nvPr/>
        </p:nvSpPr>
        <p:spPr>
          <a:xfrm>
            <a:off x="2102929" y="4152764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5E6B85"/>
                </a:solidFill>
              </a:rPr>
              <a:t>Will commits to rerun the baseline by Friday. Before the deadline, the system sends him a scheduled reminder.</a:t>
            </a:r>
            <a:endParaRPr sz="1900">
              <a:solidFill>
                <a:srgbClr val="5E6B85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t/>
            </a:r>
            <a:endParaRPr sz="1922">
              <a:solidFill>
                <a:srgbClr val="5E6B85"/>
              </a:solidFill>
            </a:endParaRPr>
          </a:p>
        </p:txBody>
      </p:sp>
      <p:sp>
        <p:nvSpPr>
          <p:cNvPr id="44" name="Google Shape;44;g3fb39db2dec_2_2"/>
          <p:cNvSpPr txBox="1"/>
          <p:nvPr/>
        </p:nvSpPr>
        <p:spPr>
          <a:xfrm>
            <a:off x="635512" y="4815481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b="1" lang="en-US" sz="1922">
                <a:solidFill>
                  <a:srgbClr val="1E2761"/>
                </a:solidFill>
              </a:rPr>
              <a:t>Meeting 5</a:t>
            </a:r>
            <a:endParaRPr sz="1922">
              <a:solidFill>
                <a:schemeClr val="dk1"/>
              </a:solidFill>
            </a:endParaRPr>
          </a:p>
        </p:txBody>
      </p:sp>
      <p:sp>
        <p:nvSpPr>
          <p:cNvPr id="45" name="Google Shape;45;g3fb39db2dec_2_2"/>
          <p:cNvSpPr txBox="1"/>
          <p:nvPr/>
        </p:nvSpPr>
        <p:spPr>
          <a:xfrm>
            <a:off x="2102929" y="4815481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5E6B85"/>
                </a:solidFill>
              </a:rPr>
              <a:t>“The rerun finished early.” Evidence updates the existing task to done and cancels pending reminders.</a:t>
            </a:r>
            <a:endParaRPr sz="1900">
              <a:solidFill>
                <a:srgbClr val="5E6B85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t/>
            </a:r>
            <a:endParaRPr sz="1922">
              <a:solidFill>
                <a:srgbClr val="5E6B85"/>
              </a:solidFill>
            </a:endParaRPr>
          </a:p>
        </p:txBody>
      </p:sp>
      <p:sp>
        <p:nvSpPr>
          <p:cNvPr id="46" name="Google Shape;46;g3fb39db2dec_2_2"/>
          <p:cNvSpPr txBox="1"/>
          <p:nvPr/>
        </p:nvSpPr>
        <p:spPr>
          <a:xfrm>
            <a:off x="635512" y="5553924"/>
            <a:ext cx="1467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94"/>
              <a:buFont typeface="Calibri"/>
              <a:buNone/>
            </a:pPr>
            <a:r>
              <a:rPr b="1" lang="en-US" sz="1922">
                <a:solidFill>
                  <a:srgbClr val="1E2761"/>
                </a:solidFill>
              </a:rPr>
              <a:t>Meeting 6</a:t>
            </a:r>
            <a:endParaRPr sz="1922">
              <a:solidFill>
                <a:schemeClr val="dk1"/>
              </a:solidFill>
            </a:endParaRPr>
          </a:p>
        </p:txBody>
      </p:sp>
      <p:sp>
        <p:nvSpPr>
          <p:cNvPr id="47" name="Google Shape;47;g3fb39db2dec_2_2"/>
          <p:cNvSpPr txBox="1"/>
          <p:nvPr/>
        </p:nvSpPr>
        <p:spPr>
          <a:xfrm>
            <a:off x="2102929" y="5553924"/>
            <a:ext cx="9827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5E6B85"/>
                </a:solidFill>
              </a:rPr>
              <a:t>The advisor's papers remain unsent. The task stays open, appears in the next brief, and receives follow-up on the configured schedule.</a:t>
            </a:r>
            <a:endParaRPr sz="1900">
              <a:solidFill>
                <a:srgbClr val="5E6B85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294"/>
              <a:buFont typeface="Calibri"/>
              <a:buNone/>
            </a:pPr>
            <a:r>
              <a:t/>
            </a:r>
            <a:endParaRPr sz="1922">
              <a:solidFill>
                <a:srgbClr val="5E6B85"/>
              </a:solidFill>
            </a:endParaRPr>
          </a:p>
        </p:txBody>
      </p:sp>
      <p:sp>
        <p:nvSpPr>
          <p:cNvPr id="48" name="Google Shape;48;g3fb39db2dec_2_2"/>
          <p:cNvSpPr txBox="1"/>
          <p:nvPr/>
        </p:nvSpPr>
        <p:spPr>
          <a:xfrm>
            <a:off x="703175" y="6303995"/>
            <a:ext cx="112944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i="1" lang="en-US" sz="1919">
                <a:solidFill>
                  <a:srgbClr val="5E6B85"/>
                </a:solidFill>
              </a:rPr>
              <a:t>Professor suggestions stay separate from commitments until a researcher explicitly accepts them.</a:t>
            </a:r>
            <a:endParaRPr sz="191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b39db2dec_2_24"/>
          <p:cNvSpPr txBox="1"/>
          <p:nvPr/>
        </p:nvSpPr>
        <p:spPr>
          <a:xfrm>
            <a:off x="588005" y="39660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b="1" lang="en-US" sz="1800">
                <a:solidFill>
                  <a:srgbClr val="5E6B85"/>
                </a:solidFill>
              </a:rPr>
              <a:t>OUR SOLUTION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" name="Google Shape;55;g3fb39db2dec_2_24"/>
          <p:cNvSpPr txBox="1"/>
          <p:nvPr/>
        </p:nvSpPr>
        <p:spPr>
          <a:xfrm>
            <a:off x="588126" y="724200"/>
            <a:ext cx="3527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2761"/>
                </a:solidFill>
              </a:rPr>
              <a:t>How It Works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56" name="Google Shape;56;g3fb39db2dec_2_24"/>
          <p:cNvSpPr txBox="1"/>
          <p:nvPr/>
        </p:nvSpPr>
        <p:spPr>
          <a:xfrm>
            <a:off x="387825" y="1437015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1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57" name="Google Shape;57;g3fb39db2dec_2_24"/>
          <p:cNvSpPr txBox="1"/>
          <p:nvPr/>
        </p:nvSpPr>
        <p:spPr>
          <a:xfrm>
            <a:off x="777168" y="1384500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Detect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58" name="Google Shape;58;g3fb39db2dec_2_24"/>
          <p:cNvSpPr txBox="1"/>
          <p:nvPr/>
        </p:nvSpPr>
        <p:spPr>
          <a:xfrm>
            <a:off x="777164" y="1714532"/>
            <a:ext cx="53274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Watch a configured folder; gate on consent; associate the artifact with a project and calendar event.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59" name="Google Shape;59;g3fb39db2dec_2_24"/>
          <p:cNvSpPr txBox="1"/>
          <p:nvPr/>
        </p:nvSpPr>
        <p:spPr>
          <a:xfrm>
            <a:off x="6437248" y="1384500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2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60" name="Google Shape;60;g3fb39db2dec_2_24"/>
          <p:cNvSpPr txBox="1"/>
          <p:nvPr/>
        </p:nvSpPr>
        <p:spPr>
          <a:xfrm>
            <a:off x="6826591" y="1384500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Transcribe &amp; confirm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61" name="Google Shape;61;g3fb39db2dec_2_24"/>
          <p:cNvSpPr txBox="1"/>
          <p:nvPr/>
        </p:nvSpPr>
        <p:spPr>
          <a:xfrm>
            <a:off x="6826591" y="1714538"/>
            <a:ext cx="51732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Import </a:t>
            </a:r>
            <a:r>
              <a:rPr lang="en-US" sz="1781">
                <a:solidFill>
                  <a:srgbClr val="5E6B85"/>
                </a:solidFill>
              </a:rPr>
              <a:t>time stamped</a:t>
            </a:r>
            <a:r>
              <a:rPr lang="en-US" sz="1781">
                <a:solidFill>
                  <a:srgbClr val="5E6B85"/>
                </a:solidFill>
              </a:rPr>
              <a:t> transcript; confirm or correct speaker mapping.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62" name="Google Shape;62;g3fb39db2dec_2_24"/>
          <p:cNvSpPr txBox="1"/>
          <p:nvPr/>
        </p:nvSpPr>
        <p:spPr>
          <a:xfrm>
            <a:off x="387825" y="2593096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3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63" name="Google Shape;63;g3fb39db2dec_2_24"/>
          <p:cNvSpPr txBox="1"/>
          <p:nvPr/>
        </p:nvSpPr>
        <p:spPr>
          <a:xfrm>
            <a:off x="777168" y="2593096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Extract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64" name="Google Shape;64;g3fb39db2dec_2_24"/>
          <p:cNvSpPr txBox="1"/>
          <p:nvPr/>
        </p:nvSpPr>
        <p:spPr>
          <a:xfrm>
            <a:off x="777168" y="2923134"/>
            <a:ext cx="51732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Pull decisions, owned commitments, and professor suggestions, each with source evidence.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65" name="Google Shape;65;g3fb39db2dec_2_24"/>
          <p:cNvSpPr txBox="1"/>
          <p:nvPr/>
        </p:nvSpPr>
        <p:spPr>
          <a:xfrm>
            <a:off x="6437248" y="2593096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4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66" name="Google Shape;66;g3fb39db2dec_2_24"/>
          <p:cNvSpPr txBox="1"/>
          <p:nvPr/>
        </p:nvSpPr>
        <p:spPr>
          <a:xfrm>
            <a:off x="6826591" y="2593096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Reconcile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67" name="Google Shape;67;g3fb39db2dec_2_24"/>
          <p:cNvSpPr txBox="1"/>
          <p:nvPr/>
        </p:nvSpPr>
        <p:spPr>
          <a:xfrm>
            <a:off x="6826591" y="2923134"/>
            <a:ext cx="51732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Match new statements against persistent project state Automatically send follow-ups.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68" name="Google Shape;68;g3fb39db2dec_2_24"/>
          <p:cNvSpPr txBox="1"/>
          <p:nvPr/>
        </p:nvSpPr>
        <p:spPr>
          <a:xfrm>
            <a:off x="387825" y="3603838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5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69" name="Google Shape;69;g3fb39db2dec_2_24"/>
          <p:cNvSpPr txBox="1"/>
          <p:nvPr/>
        </p:nvSpPr>
        <p:spPr>
          <a:xfrm>
            <a:off x="777168" y="3603838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Validate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70" name="Google Shape;70;g3fb39db2dec_2_24"/>
          <p:cNvSpPr txBox="1"/>
          <p:nvPr/>
        </p:nvSpPr>
        <p:spPr>
          <a:xfrm>
            <a:off x="777168" y="3933876"/>
            <a:ext cx="51732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Apply evidenced changes automatically, or route ambiguous matches to human review.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71" name="Google Shape;71;g3fb39db2dec_2_24"/>
          <p:cNvSpPr txBox="1"/>
          <p:nvPr/>
        </p:nvSpPr>
        <p:spPr>
          <a:xfrm>
            <a:off x="6437248" y="3603838"/>
            <a:ext cx="3894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54"/>
              <a:buFont typeface="Cambria"/>
              <a:buNone/>
            </a:pPr>
            <a:r>
              <a:rPr b="1" lang="en-US" sz="2144">
                <a:solidFill>
                  <a:srgbClr val="0E7C86"/>
                </a:solidFill>
              </a:rPr>
              <a:t>6</a:t>
            </a:r>
            <a:endParaRPr sz="2144">
              <a:solidFill>
                <a:schemeClr val="dk1"/>
              </a:solidFill>
            </a:endParaRPr>
          </a:p>
        </p:txBody>
      </p:sp>
      <p:sp>
        <p:nvSpPr>
          <p:cNvPr id="72" name="Google Shape;72;g3fb39db2dec_2_24"/>
          <p:cNvSpPr txBox="1"/>
          <p:nvPr/>
        </p:nvSpPr>
        <p:spPr>
          <a:xfrm>
            <a:off x="6826591" y="3603838"/>
            <a:ext cx="51732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2040">
                <a:solidFill>
                  <a:srgbClr val="1E2761"/>
                </a:solidFill>
              </a:rPr>
              <a:t>Answer</a:t>
            </a:r>
            <a:endParaRPr sz="2040">
              <a:solidFill>
                <a:schemeClr val="dk1"/>
              </a:solidFill>
            </a:endParaRPr>
          </a:p>
        </p:txBody>
      </p:sp>
      <p:sp>
        <p:nvSpPr>
          <p:cNvPr id="73" name="Google Shape;73;g3fb39db2dec_2_24"/>
          <p:cNvSpPr txBox="1"/>
          <p:nvPr/>
        </p:nvSpPr>
        <p:spPr>
          <a:xfrm>
            <a:off x="6826591" y="3933876"/>
            <a:ext cx="51732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91"/>
              <a:buFont typeface="Calibri"/>
              <a:buNone/>
            </a:pPr>
            <a:r>
              <a:rPr lang="en-US" sz="1781">
                <a:solidFill>
                  <a:srgbClr val="5E6B85"/>
                </a:solidFill>
              </a:rPr>
              <a:t>Cited historical Q&amp;A over the decision ledger, with transcript timestamps and audio references.</a:t>
            </a:r>
            <a:endParaRPr sz="1781">
              <a:solidFill>
                <a:schemeClr val="dk1"/>
              </a:solidFill>
            </a:endParaRPr>
          </a:p>
        </p:txBody>
      </p:sp>
      <p:sp>
        <p:nvSpPr>
          <p:cNvPr id="74" name="Google Shape;74;g3fb39db2dec_2_24"/>
          <p:cNvSpPr txBox="1"/>
          <p:nvPr/>
        </p:nvSpPr>
        <p:spPr>
          <a:xfrm>
            <a:off x="286850" y="494462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b="1" lang="en-US" sz="1664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b39db2dec_2_24"/>
          <p:cNvSpPr txBox="1"/>
          <p:nvPr/>
        </p:nvSpPr>
        <p:spPr>
          <a:xfrm>
            <a:off x="1983300" y="4944625"/>
            <a:ext cx="979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Python service · SQLite · one LLM behind a schema-validated adapter · Whisper / pyannote.audio if the sponsor pipeline can't be reused.</a:t>
            </a:r>
            <a:endParaRPr sz="1650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t/>
            </a:r>
            <a:endParaRPr sz="1664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b39db2dec_2_24"/>
          <p:cNvSpPr txBox="1"/>
          <p:nvPr/>
        </p:nvSpPr>
        <p:spPr>
          <a:xfrm>
            <a:off x="286850" y="555173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b="1" lang="en-US" sz="1664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Focus areas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b39db2dec_2_24"/>
          <p:cNvSpPr txBox="1"/>
          <p:nvPr/>
        </p:nvSpPr>
        <p:spPr>
          <a:xfrm>
            <a:off x="1983294" y="5551735"/>
            <a:ext cx="10208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Prompting + RAG for cited Q&amp;A. CLI and local service. Offline tests and follow-up delivery checks.</a:t>
            </a:r>
            <a:endParaRPr sz="1650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t/>
            </a:r>
            <a:endParaRPr sz="1664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b39db2dec_2_24"/>
          <p:cNvSpPr txBox="1"/>
          <p:nvPr/>
        </p:nvSpPr>
        <p:spPr>
          <a:xfrm>
            <a:off x="286850" y="6158845"/>
            <a:ext cx="16965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64"/>
              <a:buFont typeface="Calibri"/>
              <a:buNone/>
            </a:pPr>
            <a:r>
              <a:rPr b="1" lang="en-US" sz="1664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Deferred</a:t>
            </a:r>
            <a:endParaRPr sz="166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b39db2dec_2_24"/>
          <p:cNvSpPr txBox="1"/>
          <p:nvPr/>
        </p:nvSpPr>
        <p:spPr>
          <a:xfrm>
            <a:off x="1983294" y="6158845"/>
            <a:ext cx="102087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5E6B85"/>
                </a:solidFill>
                <a:latin typeface="Calibri"/>
                <a:ea typeface="Calibri"/>
                <a:cs typeface="Calibri"/>
                <a:sym typeface="Calibri"/>
              </a:rPr>
              <a:t>Additional delivery channels, native reminder sync, advanced diarization, voice enrollment, backward planning.</a:t>
            </a:r>
            <a:endParaRPr sz="1650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364"/>
              <a:buFont typeface="Calibri"/>
              <a:buNone/>
            </a:pPr>
            <a:r>
              <a:t/>
            </a:r>
            <a:endParaRPr sz="1664">
              <a:solidFill>
                <a:srgbClr val="5E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g3fb39db2dec_2_24"/>
          <p:cNvCxnSpPr/>
          <p:nvPr/>
        </p:nvCxnSpPr>
        <p:spPr>
          <a:xfrm>
            <a:off x="588005" y="4688995"/>
            <a:ext cx="10908900" cy="0"/>
          </a:xfrm>
          <a:prstGeom prst="straightConnector1">
            <a:avLst/>
          </a:prstGeom>
          <a:noFill/>
          <a:ln cap="flat" cmpd="sng" w="12700">
            <a:solidFill>
              <a:srgbClr val="E1E7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39db2dec_2_55"/>
          <p:cNvSpPr txBox="1"/>
          <p:nvPr/>
        </p:nvSpPr>
        <p:spPr>
          <a:xfrm>
            <a:off x="640080" y="40915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b="1" lang="en-US" sz="1800">
                <a:solidFill>
                  <a:srgbClr val="5E6B85"/>
                </a:solidFill>
              </a:rPr>
              <a:t>EVIDENCE &amp; RESPONSIBLE USE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7" name="Google Shape;87;g3fb39db2dec_2_55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2761"/>
                </a:solidFill>
              </a:rPr>
              <a:t>Evidence, Safeguards, and Non-Goals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88" name="Google Shape;88;g3fb39db2dec_2_55"/>
          <p:cNvSpPr txBox="1"/>
          <p:nvPr/>
        </p:nvSpPr>
        <p:spPr>
          <a:xfrm>
            <a:off x="447905" y="14447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lang="en-US" sz="1850">
                <a:solidFill>
                  <a:srgbClr val="0E7C86"/>
                </a:solidFill>
              </a:rPr>
              <a:t>EVIDENCE &amp; REVIEW</a:t>
            </a:r>
            <a:endParaRPr sz="1850">
              <a:solidFill>
                <a:schemeClr val="dk1"/>
              </a:solidFill>
            </a:endParaRPr>
          </a:p>
        </p:txBody>
      </p:sp>
      <p:sp>
        <p:nvSpPr>
          <p:cNvPr id="89" name="Google Shape;89;g3fb39db2dec_2_55"/>
          <p:cNvSpPr txBox="1"/>
          <p:nvPr/>
        </p:nvSpPr>
        <p:spPr>
          <a:xfrm>
            <a:off x="6176621" y="14447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lang="en-US" sz="1850">
                <a:solidFill>
                  <a:srgbClr val="0E7C86"/>
                </a:solidFill>
              </a:rPr>
              <a:t>PRIVACY &amp; NON-GOALS</a:t>
            </a:r>
            <a:endParaRPr sz="1850">
              <a:solidFill>
                <a:schemeClr val="dk1"/>
              </a:solidFill>
            </a:endParaRPr>
          </a:p>
        </p:txBody>
      </p:sp>
      <p:sp>
        <p:nvSpPr>
          <p:cNvPr id="90" name="Google Shape;90;g3fb39db2dec_2_55"/>
          <p:cNvSpPr txBox="1"/>
          <p:nvPr/>
        </p:nvSpPr>
        <p:spPr>
          <a:xfrm>
            <a:off x="447900" y="1947850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91" name="Google Shape;91;g3fb39db2dec_2_55"/>
          <p:cNvSpPr txBox="1"/>
          <p:nvPr/>
        </p:nvSpPr>
        <p:spPr>
          <a:xfrm>
            <a:off x="688148" y="1947850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Every participant consents before recording or processing; a non-recorded option is always available.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92" name="Google Shape;92;g3fb39db2dec_2_55"/>
          <p:cNvSpPr txBox="1"/>
          <p:nvPr/>
        </p:nvSpPr>
        <p:spPr>
          <a:xfrm>
            <a:off x="447900" y="2985717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93" name="Google Shape;93;g3fb39db2dec_2_55"/>
          <p:cNvSpPr txBox="1"/>
          <p:nvPr/>
        </p:nvSpPr>
        <p:spPr>
          <a:xfrm>
            <a:off x="688148" y="2985717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Speaker mappings are user-confirmed; every task or decision change cites its source segment and timestamp.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94" name="Google Shape;94;g3fb39db2dec_2_55"/>
          <p:cNvSpPr txBox="1"/>
          <p:nvPr/>
        </p:nvSpPr>
        <p:spPr>
          <a:xfrm>
            <a:off x="447900" y="4023585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95" name="Google Shape;95;g3fb39db2dec_2_55"/>
          <p:cNvSpPr txBox="1"/>
          <p:nvPr/>
        </p:nvSpPr>
        <p:spPr>
          <a:xfrm>
            <a:off x="688148" y="4023585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6"/>
              <a:buFont typeface="Arial"/>
              <a:buNone/>
            </a:pPr>
            <a:r>
              <a:rPr lang="en-US" sz="2049">
                <a:solidFill>
                  <a:srgbClr val="1E2761"/>
                </a:solidFill>
              </a:rPr>
              <a:t>Review ambiguous matches. Send follow-ups only to user-configured recipients on an enabled schedule.</a:t>
            </a:r>
            <a:endParaRPr sz="2049">
              <a:solidFill>
                <a:srgbClr val="1E276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t/>
            </a:r>
            <a:endParaRPr sz="2049">
              <a:solidFill>
                <a:srgbClr val="1E2761"/>
              </a:solidFill>
            </a:endParaRPr>
          </a:p>
        </p:txBody>
      </p:sp>
      <p:sp>
        <p:nvSpPr>
          <p:cNvPr id="96" name="Google Shape;96;g3fb39db2dec_2_55"/>
          <p:cNvSpPr txBox="1"/>
          <p:nvPr/>
        </p:nvSpPr>
        <p:spPr>
          <a:xfrm>
            <a:off x="447900" y="5061452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97" name="Google Shape;97;g3fb39db2dec_2_55"/>
          <p:cNvSpPr txBox="1"/>
          <p:nvPr/>
        </p:nvSpPr>
        <p:spPr>
          <a:xfrm>
            <a:off x="688148" y="5061452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Silence in a later meeting never marks a task done or dropped; partial progress is not completion.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98" name="Google Shape;98;g3fb39db2dec_2_55"/>
          <p:cNvSpPr txBox="1"/>
          <p:nvPr/>
        </p:nvSpPr>
        <p:spPr>
          <a:xfrm>
            <a:off x="6468511" y="1947850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99" name="Google Shape;99;g3fb39db2dec_2_55"/>
          <p:cNvSpPr txBox="1"/>
          <p:nvPr/>
        </p:nvSpPr>
        <p:spPr>
          <a:xfrm>
            <a:off x="6708759" y="1947850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Data stays local by default; deletion removes derived artifacts (transcripts, embeddings, indexes), not just audio.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100" name="Google Shape;100;g3fb39db2dec_2_55"/>
          <p:cNvSpPr txBox="1"/>
          <p:nvPr/>
        </p:nvSpPr>
        <p:spPr>
          <a:xfrm>
            <a:off x="6468511" y="2985717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101" name="Google Shape;101;g3fb39db2dec_2_55"/>
          <p:cNvSpPr txBox="1"/>
          <p:nvPr/>
        </p:nvSpPr>
        <p:spPr>
          <a:xfrm>
            <a:off x="6708759" y="2985717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Retrieval and reconciliation are scoped per project - one project's data never appears in another's results.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102" name="Google Shape;102;g3fb39db2dec_2_55"/>
          <p:cNvSpPr txBox="1"/>
          <p:nvPr/>
        </p:nvSpPr>
        <p:spPr>
          <a:xfrm>
            <a:off x="6468511" y="4023585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103" name="Google Shape;103;g3fb39db2dec_2_55"/>
          <p:cNvSpPr txBox="1"/>
          <p:nvPr/>
        </p:nvSpPr>
        <p:spPr>
          <a:xfrm>
            <a:off x="6708759" y="4023585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No productivity or performance scores, no ranking of students or researchers, no monitoring without consent.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104" name="Google Shape;104;g3fb39db2dec_2_55"/>
          <p:cNvSpPr txBox="1"/>
          <p:nvPr/>
        </p:nvSpPr>
        <p:spPr>
          <a:xfrm>
            <a:off x="6468511" y="5061452"/>
            <a:ext cx="240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19"/>
              <a:buFont typeface="Calibri"/>
              <a:buNone/>
            </a:pPr>
            <a:r>
              <a:rPr lang="en-US" sz="2154">
                <a:solidFill>
                  <a:srgbClr val="0E7C86"/>
                </a:solidFill>
              </a:rPr>
              <a:t>–</a:t>
            </a:r>
            <a:endParaRPr sz="2154">
              <a:solidFill>
                <a:schemeClr val="dk1"/>
              </a:solidFill>
            </a:endParaRPr>
          </a:p>
        </p:txBody>
      </p:sp>
      <p:sp>
        <p:nvSpPr>
          <p:cNvPr id="105" name="Google Shape;105;g3fb39db2dec_2_55"/>
          <p:cNvSpPr txBox="1"/>
          <p:nvPr/>
        </p:nvSpPr>
        <p:spPr>
          <a:xfrm>
            <a:off x="6708759" y="5061452"/>
            <a:ext cx="5203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14"/>
              <a:buFont typeface="Calibri"/>
              <a:buNone/>
            </a:pPr>
            <a:r>
              <a:rPr lang="en-US" sz="2049">
                <a:solidFill>
                  <a:srgbClr val="1E2761"/>
                </a:solidFill>
              </a:rPr>
              <a:t>Sponsor code, datasets, and models are used only after confirming license and redistribution terms.</a:t>
            </a:r>
            <a:endParaRPr sz="2049">
              <a:solidFill>
                <a:schemeClr val="dk1"/>
              </a:solidFill>
            </a:endParaRPr>
          </a:p>
        </p:txBody>
      </p:sp>
      <p:sp>
        <p:nvSpPr>
          <p:cNvPr id="106" name="Google Shape;106;g3fb39db2dec_2_55"/>
          <p:cNvSpPr txBox="1"/>
          <p:nvPr/>
        </p:nvSpPr>
        <p:spPr>
          <a:xfrm>
            <a:off x="626368" y="6270605"/>
            <a:ext cx="109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85"/>
              </a:buClr>
              <a:buSzPts val="1150"/>
              <a:buFont typeface="Calibri"/>
              <a:buNone/>
            </a:pPr>
            <a:r>
              <a:rPr i="1" lang="en-US" sz="1750">
                <a:solidFill>
                  <a:srgbClr val="5E6B85"/>
                </a:solidFill>
              </a:rPr>
              <a:t>Use consenting team recordings and staged scenarios; confirm source licenses and provider terms before use.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685800" y="552450"/>
            <a:ext cx="10820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953750" y="62103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85800" y="1571625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Does persistent memory beat independent meeting extraction?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85800" y="264795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233344"/>
                </a:solidFill>
              </a:rPr>
              <a:t>Pilot: 6</a:t>
            </a:r>
            <a:r>
              <a:rPr b="0" lang="en-US" sz="2325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 meetings in six sequences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Held-out human annotations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381750" y="2647950"/>
            <a:ext cx="50958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≥95% update precision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Zero observed unsupported completions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85800" y="421005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233344"/>
                </a:solidFill>
              </a:rPr>
              <a:t>Score tasks, summaries, and cited answers.</a:t>
            </a:r>
            <a:endParaRPr sz="2250">
              <a:solidFill>
                <a:srgbClr val="2333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50">
                <a:solidFill>
                  <a:srgbClr val="233344"/>
                </a:solidFill>
              </a:rPr>
              <a:t>Test reminder timing, cancellation, and duplicates.</a:t>
            </a:r>
            <a:endParaRPr sz="2250">
              <a:solidFill>
                <a:srgbClr val="23334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233344"/>
              </a:solidFill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" y="5724525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Provisional targets. No measured results yet.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685800" y="552450"/>
            <a:ext cx="10820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142B3D"/>
                </a:solidFill>
                <a:latin typeface="Arial"/>
                <a:ea typeface="Arial"/>
                <a:cs typeface="Arial"/>
                <a:sym typeface="Arial"/>
              </a:rPr>
              <a:t>Delivery plan and feedback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953750" y="62103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85800" y="1657350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PROPOSED OWNERS*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85800" y="2181225"/>
            <a:ext cx="10477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Will: extraction and reconciliation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Bryan: runtime, CLI, and integrations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Guadalupe: data and evaluation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85800" y="3819525"/>
            <a:ext cx="106680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Week 5: transcript pipeline     Week 8: reconciliation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Weeks 11–12: held-out evaluation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85800" y="4905375"/>
            <a:ext cx="10668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Proposed budget: $</a:t>
            </a:r>
            <a:r>
              <a:rPr lang="en-US" sz="2100">
                <a:solidFill>
                  <a:srgbClr val="233344"/>
                </a:solidFill>
              </a:rPr>
              <a:t>75</a:t>
            </a:r>
            <a:r>
              <a:rPr b="0" lang="en-US" sz="2100">
                <a:solidFill>
                  <a:srgbClr val="233344"/>
                </a:solidFill>
                <a:latin typeface="Arial"/>
                <a:ea typeface="Arial"/>
                <a:cs typeface="Arial"/>
                <a:sym typeface="Arial"/>
              </a:rPr>
              <a:t>, using existing laptops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85800" y="5534025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Is the three-meeting scope sufficient?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Can the sponsor’s transcript pipeline remain upstream?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90550" y="6381750"/>
            <a:ext cx="10668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3344"/>
                </a:solidFill>
              </a:rPr>
              <a:t>*Please see section 10 of the proposal report to see more details</a:t>
            </a:r>
            <a:endParaRPr sz="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